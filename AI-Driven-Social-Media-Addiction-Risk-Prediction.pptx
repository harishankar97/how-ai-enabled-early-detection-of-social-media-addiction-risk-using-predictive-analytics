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6" r:id="rId7"/>
    <p:sldId id="271" r:id="rId8"/>
    <p:sldId id="262" r:id="rId9"/>
    <p:sldId id="263" r:id="rId10"/>
    <p:sldId id="267" r:id="rId11"/>
    <p:sldId id="264" r:id="rId12"/>
    <p:sldId id="265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IBM Plex Sans" panose="020B0503050203000203" pitchFamily="34" charset="0"/>
      <p:regular r:id="rId18"/>
      <p:bold r:id="rId19"/>
    </p:embeddedFont>
    <p:embeddedFont>
      <p:font typeface="Outfit Medium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31F4-1F20-3E74-B2A8-AACDFE838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F7F41-2D6C-79E1-3A8C-C439FE43A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6A33A-90BD-8BBD-B4BC-006D9AB62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6E8DA-6614-1937-37DE-2A43B9269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76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E12D-AFF5-AC2E-CBE1-A5AE63C6A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454DA-86C6-8126-44AB-5304D4618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6FFE8-0A11-79FD-EBED-DE9B57ACB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98458-7803-3315-348B-F3ECB395A7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63B44-8A88-38F1-39C1-7C16256AE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395BB-D01B-9F68-24DE-CF2CD3E51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3F69A-C0FA-7E0D-2546-CF5998D68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25D3F-F19E-F6A6-69E5-B9FD5E33E1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18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11" Type="http://schemas.openxmlformats.org/officeDocument/2006/relationships/image" Target="../media/image51.svg"/><Relationship Id="rId5" Type="http://schemas.openxmlformats.org/officeDocument/2006/relationships/image" Target="../media/image45.sv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AI-Driven Social Media Addiction Risk Prediction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Machine Learning Project using Databricks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E8761B-CBAF-AA4A-BC52-DEA16F802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91" y="187315"/>
            <a:ext cx="1409700" cy="1409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85AD40-56E8-8168-ADF5-32A465A72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412" y="6632585"/>
            <a:ext cx="2419350" cy="1409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9A16EE-1C7D-4E07-4F2A-4C5A0C7FED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78" y="6632585"/>
            <a:ext cx="324802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88419"/>
            <a:ext cx="1000006" cy="343614"/>
          </a:xfrm>
          <a:prstGeom prst="roundRect">
            <a:avLst>
              <a:gd name="adj" fmla="val 40400"/>
            </a:avLst>
          </a:prstGeom>
          <a:solidFill>
            <a:srgbClr val="CFDBFC"/>
          </a:solidFill>
          <a:ln/>
        </p:spPr>
      </p:sp>
      <p:sp>
        <p:nvSpPr>
          <p:cNvPr id="3" name="Text 1"/>
          <p:cNvSpPr/>
          <p:nvPr/>
        </p:nvSpPr>
        <p:spPr>
          <a:xfrm>
            <a:off x="909399" y="746165"/>
            <a:ext cx="768787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3790" y="1097518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Agenda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93790" y="1945719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3790" y="2250400"/>
            <a:ext cx="6439495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239244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Business Problem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93790" y="2791897"/>
            <a:ext cx="6439495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Understanding the addiction challenge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97115" y="1945719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97115" y="2250400"/>
            <a:ext cx="6439495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1" name="Text 9"/>
          <p:cNvSpPr/>
          <p:nvPr/>
        </p:nvSpPr>
        <p:spPr>
          <a:xfrm>
            <a:off x="7397115" y="239244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Solution Overview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397115" y="2791897"/>
            <a:ext cx="6439495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AI-powered prediction system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3790" y="3385542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3790" y="3690223"/>
            <a:ext cx="6439495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383226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 Architecture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93790" y="4231719"/>
            <a:ext cx="6439495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Medallion structure on Databricks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97115" y="3385542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97115" y="3690223"/>
            <a:ext cx="6439495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9" name="Text 17"/>
          <p:cNvSpPr/>
          <p:nvPr/>
        </p:nvSpPr>
        <p:spPr>
          <a:xfrm>
            <a:off x="7397115" y="383226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7397115" y="4231719"/>
            <a:ext cx="6439495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Behavioral metrics extraction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3790" y="4825365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3790" y="5130046"/>
            <a:ext cx="6439495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23" name="Text 21"/>
          <p:cNvSpPr/>
          <p:nvPr/>
        </p:nvSpPr>
        <p:spPr>
          <a:xfrm>
            <a:off x="793790" y="5272088"/>
            <a:ext cx="262449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Machine Learning Model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793790" y="5671542"/>
            <a:ext cx="6439495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 Forest implementation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97115" y="4825365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97115" y="5130046"/>
            <a:ext cx="6439495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27" name="Text 25"/>
          <p:cNvSpPr/>
          <p:nvPr/>
        </p:nvSpPr>
        <p:spPr>
          <a:xfrm>
            <a:off x="7397115" y="527208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Results &amp; Insights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397115" y="5671542"/>
            <a:ext cx="6439495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 and key findings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93790" y="6265188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07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93790" y="6569869"/>
            <a:ext cx="6439495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31" name="Text 29"/>
          <p:cNvSpPr/>
          <p:nvPr/>
        </p:nvSpPr>
        <p:spPr>
          <a:xfrm>
            <a:off x="793790" y="6711910"/>
            <a:ext cx="299608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Dashboard &amp; Business Value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793790" y="7111365"/>
            <a:ext cx="6439495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Actionable KPIs and metrics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97115" y="6265188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08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97115" y="6569869"/>
            <a:ext cx="6439495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35" name="Text 33"/>
          <p:cNvSpPr/>
          <p:nvPr/>
        </p:nvSpPr>
        <p:spPr>
          <a:xfrm>
            <a:off x="7397115" y="6711910"/>
            <a:ext cx="255270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Conclusion &amp; Next Steps</a:t>
            </a:r>
            <a:endParaRPr lang="en-US" sz="1850" dirty="0"/>
          </a:p>
        </p:txBody>
      </p:sp>
      <p:sp>
        <p:nvSpPr>
          <p:cNvPr id="36" name="Text 34"/>
          <p:cNvSpPr/>
          <p:nvPr/>
        </p:nvSpPr>
        <p:spPr>
          <a:xfrm>
            <a:off x="7397115" y="7111365"/>
            <a:ext cx="6439495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roadmap</a:t>
            </a:r>
            <a:endParaRPr lang="en-US" sz="15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AA51998-39D4-38D5-942D-D63FBA8AB6C4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517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Business Problem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300645"/>
            <a:ext cx="2367558" cy="3128129"/>
          </a:xfrm>
          <a:prstGeom prst="roundRect">
            <a:avLst>
              <a:gd name="adj" fmla="val 8623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14624" y="2535079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Rising Addiction Risk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79827"/>
            <a:ext cx="18986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Excessive social media consumption threatens user wellbeing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874562" y="2300645"/>
            <a:ext cx="2367558" cy="3128129"/>
          </a:xfrm>
          <a:prstGeom prst="roundRect">
            <a:avLst>
              <a:gd name="adj" fmla="val 8623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08996" y="2535079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Mental Health Impact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08996" y="3379827"/>
            <a:ext cx="18986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 engagement creates mental health, regulatory, and churn risks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468933" y="2300645"/>
            <a:ext cx="2367558" cy="3128129"/>
          </a:xfrm>
          <a:prstGeom prst="roundRect">
            <a:avLst>
              <a:gd name="adj" fmla="val 8623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703368" y="2535079"/>
            <a:ext cx="1898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Analytics Gap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703368" y="3025497"/>
            <a:ext cx="18986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Traditional methods fail to identify risky users early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655588"/>
            <a:ext cx="7556302" cy="1322189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14624" y="58900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Intervention Need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14624" y="6380440"/>
            <a:ext cx="70874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Proactive, data-driven system required</a:t>
            </a:r>
            <a:endParaRPr lang="en-US" sz="17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EC2A8A-36D8-CA30-D3AE-60D952F46F2D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99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Solution Overview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54079"/>
            <a:ext cx="8284131" cy="4970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386965"/>
            <a:ext cx="38301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AI-Powered Prediction System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968109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comprehensive addiction risk prediction using behavioral analysis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3897987"/>
            <a:ext cx="4205168" cy="290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Analyzed session length, feed &amp; reels consumption patterns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Classified users as High-Risk vs Low-Risk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Delivered actionable insights via business dashboards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Enabled proactive intervention strategies</a:t>
            </a:r>
            <a:endParaRPr lang="en-US" sz="175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710996-C609-1B8C-3B8D-77680942493D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334" y="453628"/>
            <a:ext cx="1365409" cy="296347"/>
          </a:xfrm>
          <a:prstGeom prst="roundRect">
            <a:avLst>
              <a:gd name="adj" fmla="val 40079"/>
            </a:avLst>
          </a:prstGeom>
          <a:noFill/>
          <a:ln w="7620">
            <a:solidFill>
              <a:srgbClr val="A2B9F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" y="535781"/>
            <a:ext cx="131921" cy="1319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1777" y="510659"/>
            <a:ext cx="954405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A2B9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77334" y="797957"/>
            <a:ext cx="6255306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Databricks Medallion Architecture</a:t>
            </a:r>
            <a:endParaRPr lang="en-US" sz="3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34" y="1493401"/>
            <a:ext cx="13475732" cy="6167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48351" y="2444376"/>
            <a:ext cx="2980959" cy="37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Bronze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0448351" y="2922986"/>
            <a:ext cx="3285679" cy="257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Raw user activity data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935780" y="4342874"/>
            <a:ext cx="2980959" cy="37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Silver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96034" y="4821484"/>
            <a:ext cx="3020704" cy="51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Cleaned, aggregated behavioral metrics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0448351" y="5389522"/>
            <a:ext cx="2980959" cy="37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Gold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0448351" y="5868132"/>
            <a:ext cx="3285679" cy="51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 predictions and business-ready analytics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77334" y="7795379"/>
            <a:ext cx="13475732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Unity Catalog ensures governance and security across all data layers, enabling trusted analytics and model deployment.</a:t>
            </a:r>
            <a:endParaRPr lang="en-US" sz="125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0FD955-5003-3F1F-4974-8005E206AD01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8224-187D-7CFE-0F5A-950903D59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353281-A6B4-17B8-4F5A-7BEC784E7579}"/>
              </a:ext>
            </a:extLst>
          </p:cNvPr>
          <p:cNvSpPr/>
          <p:nvPr/>
        </p:nvSpPr>
        <p:spPr>
          <a:xfrm>
            <a:off x="577334" y="453628"/>
            <a:ext cx="1365409" cy="296347"/>
          </a:xfrm>
          <a:prstGeom prst="roundRect">
            <a:avLst>
              <a:gd name="adj" fmla="val 40079"/>
            </a:avLst>
          </a:prstGeom>
          <a:noFill/>
          <a:ln w="7620">
            <a:solidFill>
              <a:srgbClr val="A2B9F9"/>
            </a:solidFill>
            <a:prstDash val="solid"/>
          </a:ln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782ED69-884E-ACD6-B229-1F1F0C7AA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" y="535781"/>
            <a:ext cx="131921" cy="13192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AD8855C-CC87-FBD5-E673-58EF3668BF93}"/>
              </a:ext>
            </a:extLst>
          </p:cNvPr>
          <p:cNvSpPr/>
          <p:nvPr/>
        </p:nvSpPr>
        <p:spPr>
          <a:xfrm>
            <a:off x="881777" y="510659"/>
            <a:ext cx="954405" cy="18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A2B9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AC5040-CA10-904C-B881-3C347F04954C}"/>
              </a:ext>
            </a:extLst>
          </p:cNvPr>
          <p:cNvSpPr/>
          <p:nvPr/>
        </p:nvSpPr>
        <p:spPr>
          <a:xfrm>
            <a:off x="577334" y="797957"/>
            <a:ext cx="6255306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Databricks Medallion Architecture</a:t>
            </a:r>
            <a:endParaRPr lang="en-US" sz="32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E688767-EEC8-18E1-A973-2EB9055159FE}"/>
              </a:ext>
            </a:extLst>
          </p:cNvPr>
          <p:cNvSpPr/>
          <p:nvPr/>
        </p:nvSpPr>
        <p:spPr>
          <a:xfrm>
            <a:off x="577334" y="7795379"/>
            <a:ext cx="13475732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Unity Catalog ensures governance and security across all data layers, enabling trusted analytics and model deployment.</a:t>
            </a:r>
            <a:endParaRPr lang="en-US" sz="125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DB0B29-8C51-E11A-4349-FAACD472306B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6E29BA-07DD-38DB-78E1-AFC479678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25" y="1770366"/>
            <a:ext cx="8048972" cy="49878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83F6D6-0AE7-3DE2-5F93-ED8D201CDBAF}"/>
              </a:ext>
            </a:extLst>
          </p:cNvPr>
          <p:cNvSpPr txBox="1"/>
          <p:nvPr/>
        </p:nvSpPr>
        <p:spPr>
          <a:xfrm>
            <a:off x="9370244" y="2199870"/>
            <a:ext cx="45531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Activity Data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Bronze Layer (Raw logs)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Silver Layer (Cleaned + Aggregated metrics)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Feature Engineering (Ratios, session patterns)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ML Model (Random Forest)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Predictions Table (Gold Layer)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Dashboards &amp; KPIs</a:t>
            </a:r>
          </a:p>
        </p:txBody>
      </p:sp>
    </p:spTree>
    <p:extLst>
      <p:ext uri="{BB962C8B-B14F-4D97-AF65-F5344CB8AC3E}">
        <p14:creationId xmlns:p14="http://schemas.microsoft.com/office/powerpoint/2010/main" val="1058161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C12A2-E149-028C-5156-482632B4D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A500C1-1652-1AC5-5012-76D9F435FE0D}"/>
              </a:ext>
            </a:extLst>
          </p:cNvPr>
          <p:cNvSpPr/>
          <p:nvPr/>
        </p:nvSpPr>
        <p:spPr>
          <a:xfrm>
            <a:off x="793790" y="20225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Feature Engineering</a:t>
            </a:r>
            <a:endParaRPr lang="en-US" sz="4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37D5A62-632C-8FEC-E277-6F833439B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84922"/>
            <a:ext cx="1055965" cy="105596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184DF0C-09FF-5F9D-7FDE-D156C1E77FE6}"/>
              </a:ext>
            </a:extLst>
          </p:cNvPr>
          <p:cNvSpPr/>
          <p:nvPr/>
        </p:nvSpPr>
        <p:spPr>
          <a:xfrm>
            <a:off x="2133243" y="3184922"/>
            <a:ext cx="17085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Usage Metrics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BB7A3BE-A919-5DD4-F2CA-AE56F125FF20}"/>
              </a:ext>
            </a:extLst>
          </p:cNvPr>
          <p:cNvSpPr/>
          <p:nvPr/>
        </p:nvSpPr>
        <p:spPr>
          <a:xfrm>
            <a:off x="2133243" y="4029670"/>
            <a:ext cx="17085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Average daily usage minutes and session intensity tracking</a:t>
            </a:r>
            <a:endParaRPr lang="en-US" sz="175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78BF78F-7103-D9C4-AF75-2EE58F26D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184922"/>
            <a:ext cx="1055965" cy="1055965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DD333983-7111-40D5-F395-21140EC29CFC}"/>
              </a:ext>
            </a:extLst>
          </p:cNvPr>
          <p:cNvSpPr/>
          <p:nvPr/>
        </p:nvSpPr>
        <p:spPr>
          <a:xfrm>
            <a:off x="5464731" y="3184922"/>
            <a:ext cx="17086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Content Ratios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B4A6B20-2F03-0C69-2A11-ECD5DA1D6115}"/>
              </a:ext>
            </a:extLst>
          </p:cNvPr>
          <p:cNvSpPr/>
          <p:nvPr/>
        </p:nvSpPr>
        <p:spPr>
          <a:xfrm>
            <a:off x="5464731" y="4029670"/>
            <a:ext cx="17086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 vs Reels consumption patterns and session length analysis</a:t>
            </a:r>
            <a:endParaRPr lang="en-US" sz="17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F582E62A-7DA7-3B4A-AAA3-A58C7F454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184922"/>
            <a:ext cx="1055965" cy="1055965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DE9EE3CD-D1C5-4244-FC90-575EA8902518}"/>
              </a:ext>
            </a:extLst>
          </p:cNvPr>
          <p:cNvSpPr/>
          <p:nvPr/>
        </p:nvSpPr>
        <p:spPr>
          <a:xfrm>
            <a:off x="8796338" y="3184922"/>
            <a:ext cx="17086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User Attributes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CF21D81-B3AF-28C1-7A93-6D9294C2B9D5}"/>
              </a:ext>
            </a:extLst>
          </p:cNvPr>
          <p:cNvSpPr/>
          <p:nvPr/>
        </p:nvSpPr>
        <p:spPr>
          <a:xfrm>
            <a:off x="8796338" y="4029670"/>
            <a:ext cx="17086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 normalization and gender encoding for demographic insights</a:t>
            </a:r>
            <a:endParaRPr lang="en-US" sz="175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FDF3CA8B-BC03-F527-80B3-C5D736E64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184922"/>
            <a:ext cx="1055965" cy="1055965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4CB727E5-4592-EB3E-3A07-67578143D015}"/>
              </a:ext>
            </a:extLst>
          </p:cNvPr>
          <p:cNvSpPr/>
          <p:nvPr/>
        </p:nvSpPr>
        <p:spPr>
          <a:xfrm>
            <a:off x="12127944" y="3184922"/>
            <a:ext cx="17086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Behavior Signals</a:t>
            </a:r>
            <a:endParaRPr lang="en-US" sz="2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B8EAC45-7371-8E7F-8A27-18CF2FF94DE9}"/>
              </a:ext>
            </a:extLst>
          </p:cNvPr>
          <p:cNvSpPr/>
          <p:nvPr/>
        </p:nvSpPr>
        <p:spPr>
          <a:xfrm>
            <a:off x="12127944" y="4029670"/>
            <a:ext cx="17086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Ratio features engineered for stronger predictive signals</a:t>
            </a:r>
            <a:endParaRPr lang="en-US" sz="17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7CEEB8F-04DE-F3B9-8CCB-BCA2A0A973A6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DFD59D-FA62-9994-F558-9EE876BA88EE}"/>
              </a:ext>
            </a:extLst>
          </p:cNvPr>
          <p:cNvSpPr txBox="1"/>
          <p:nvPr/>
        </p:nvSpPr>
        <p:spPr>
          <a:xfrm>
            <a:off x="7315200" y="1532851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Activity Data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Bronze Layer (Raw logs)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Silver Layer (Cleaned + Aggregated metrics)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Feature Engineering (Ratios, session patterns)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ML Model (Random Forest)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Predictions Table (Gold Layer)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Dashboards &amp; KPIs</a:t>
            </a:r>
          </a:p>
        </p:txBody>
      </p:sp>
    </p:spTree>
    <p:extLst>
      <p:ext uri="{BB962C8B-B14F-4D97-AF65-F5344CB8AC3E}">
        <p14:creationId xmlns:p14="http://schemas.microsoft.com/office/powerpoint/2010/main" val="1983856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6031"/>
            <a:ext cx="5853470" cy="67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Machine Learning Model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1647" y="1831777"/>
            <a:ext cx="3028950" cy="3172301"/>
          </a:xfrm>
          <a:prstGeom prst="roundRect">
            <a:avLst>
              <a:gd name="adj" fmla="val 638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14055" y="2054185"/>
            <a:ext cx="644604" cy="644604"/>
          </a:xfrm>
          <a:prstGeom prst="roundRect">
            <a:avLst>
              <a:gd name="adj" fmla="val 14184035"/>
            </a:avLst>
          </a:prstGeom>
          <a:solidFill>
            <a:srgbClr val="A2B9F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1339" y="2231350"/>
            <a:ext cx="290036" cy="2900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055" y="2902268"/>
            <a:ext cx="2584133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Random Forest Classifier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14055" y="3777258"/>
            <a:ext cx="2584133" cy="100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Handles non-linear behavior patterns effectively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024074" y="1831777"/>
            <a:ext cx="3029069" cy="3172301"/>
          </a:xfrm>
          <a:prstGeom prst="roundRect">
            <a:avLst>
              <a:gd name="adj" fmla="val 638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46483" y="2054185"/>
            <a:ext cx="644604" cy="644604"/>
          </a:xfrm>
          <a:prstGeom prst="roundRect">
            <a:avLst>
              <a:gd name="adj" fmla="val 14184035"/>
            </a:avLst>
          </a:prstGeom>
          <a:solidFill>
            <a:srgbClr val="A2B9F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23767" y="2231350"/>
            <a:ext cx="290036" cy="2900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46483" y="2902268"/>
            <a:ext cx="2584252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Explainability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4246483" y="3441502"/>
            <a:ext cx="2584252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Provides clear feature importance insights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91647" y="5207556"/>
            <a:ext cx="6261497" cy="2166938"/>
          </a:xfrm>
          <a:prstGeom prst="roundRect">
            <a:avLst>
              <a:gd name="adj" fmla="val 892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1905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14055" y="5429964"/>
            <a:ext cx="644604" cy="644604"/>
          </a:xfrm>
          <a:prstGeom prst="roundRect">
            <a:avLst>
              <a:gd name="adj" fmla="val 14184035"/>
            </a:avLst>
          </a:prstGeom>
          <a:solidFill>
            <a:srgbClr val="A2B9F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1339" y="5607129"/>
            <a:ext cx="290036" cy="2900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14055" y="6278047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MLflow Tracking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1014055" y="6817281"/>
            <a:ext cx="581667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versioning and experiment logging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430214" y="1602819"/>
            <a:ext cx="6570821" cy="6000631"/>
          </a:xfrm>
          <a:prstGeom prst="roundRect">
            <a:avLst>
              <a:gd name="adj" fmla="val 5157"/>
            </a:avLst>
          </a:prstGeom>
          <a:solidFill>
            <a:srgbClr val="A2B9F9">
              <a:alpha val="95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7645003" y="1806297"/>
            <a:ext cx="2929414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Train-Test Configuration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7645003" y="2345531"/>
            <a:ext cx="6141244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80% / 20% Split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7645003" y="2863453"/>
            <a:ext cx="6141244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Balanced dataset ensures robust model validation and prevents overfitting while maintaining predictive accuracy.</a:t>
            </a:r>
            <a:endParaRPr lang="en-US" sz="165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941AC71-5F32-E658-95F9-FBB782171E81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60684"/>
            <a:ext cx="1828800" cy="426244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783080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728668"/>
            <a:ext cx="128444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1776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Model Performance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333994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95.5%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1455420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Training Accuracy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486215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Strong learning on historical data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235893" y="333994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95.4%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5897523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Test Accuracy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235893" y="486215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Excellent generalization to new users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677995" y="333994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0.1%</a:t>
            </a:r>
            <a:endParaRPr lang="en-US" sz="5850" dirty="0"/>
          </a:p>
        </p:txBody>
      </p:sp>
      <p:sp>
        <p:nvSpPr>
          <p:cNvPr id="13" name="Text 10"/>
          <p:cNvSpPr/>
          <p:nvPr/>
        </p:nvSpPr>
        <p:spPr>
          <a:xfrm>
            <a:off x="10339626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Overfitting Gap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77995" y="486215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Minimal difference indicates stable model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93790" y="584311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model demonstrates stable performance across all user segments with consistent accuracy, validating its readiness for production deployment.</a:t>
            </a:r>
            <a:endParaRPr lang="en-US" sz="17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AAEEB0-9338-0AF4-16C4-360C352AE9E6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78723-2EFD-03A8-D8D9-2E163955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D5530A-365C-8453-D477-3623BFEC8B44}"/>
              </a:ext>
            </a:extLst>
          </p:cNvPr>
          <p:cNvSpPr/>
          <p:nvPr/>
        </p:nvSpPr>
        <p:spPr>
          <a:xfrm>
            <a:off x="463852" y="142969"/>
            <a:ext cx="1828800" cy="426244"/>
          </a:xfrm>
          <a:prstGeom prst="roundRect">
            <a:avLst>
              <a:gd name="adj" fmla="val 38315"/>
            </a:avLst>
          </a:prstGeom>
          <a:solidFill>
            <a:srgbClr val="CFDBFC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2774E55-558A-505D-83BE-7139B0428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140" y="265365"/>
            <a:ext cx="181451" cy="18145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2C31122-3CC2-64F4-A102-675C3BD414EF}"/>
              </a:ext>
            </a:extLst>
          </p:cNvPr>
          <p:cNvSpPr/>
          <p:nvPr/>
        </p:nvSpPr>
        <p:spPr>
          <a:xfrm>
            <a:off x="929878" y="210954"/>
            <a:ext cx="128444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8B307EA-01ED-704B-F2F3-5A83078E287B}"/>
              </a:ext>
            </a:extLst>
          </p:cNvPr>
          <p:cNvSpPr/>
          <p:nvPr/>
        </p:nvSpPr>
        <p:spPr>
          <a:xfrm>
            <a:off x="275316" y="7028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Model Performance</a:t>
            </a:r>
            <a:endParaRPr lang="en-US" sz="4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4A4FBB9-4C10-CBCB-F815-47DB3ED81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316" y="1743959"/>
            <a:ext cx="7266127" cy="57827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AE28D3-791F-602A-E6F4-B2D0D241EB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4566" y="1743960"/>
            <a:ext cx="6884090" cy="5782774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4E0DAB6-2F2A-7921-BD06-8403E20D9CE4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</p:spTree>
    <p:extLst>
      <p:ext uri="{BB962C8B-B14F-4D97-AF65-F5344CB8AC3E}">
        <p14:creationId xmlns:p14="http://schemas.microsoft.com/office/powerpoint/2010/main" val="1113493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60882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Key Feature Importance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19695"/>
            <a:ext cx="8284131" cy="4639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9877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Strongest Predictors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568898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highlight>
                  <a:srgbClr val="A2B9F9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Average daily minutes</a:t>
            </a: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emerged as the most powerful indicator of addiction risk.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498777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 and Reels consumption time serve as high-impact signals, while session frequency and age provide moderate predictive value. Gender shows minimal influence on addiction patterns.</a:t>
            </a:r>
            <a:endParaRPr lang="en-US" sz="17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477C67-C513-3F35-F14F-0E9866232FBC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279" y="852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Dashboard &amp; KPIs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65346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Total Users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10622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 user base monitoring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765346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High-Risk Count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10622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Users requiring intervention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765346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Risk Percentage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10622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Population-level risk metrics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773222"/>
            <a:ext cx="30363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Geographic Distribution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26364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 &amp; country risk patterns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4922758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Content Analysis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26364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by content type</a:t>
            </a:r>
            <a:endParaRPr lang="en-US" sz="175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555276C-57AE-045E-5D91-0F50E9BDB6A4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64A461A-F6D7-8B19-1C53-E6210F3A678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794002"/>
            <a:ext cx="14498121" cy="74355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39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Business Impact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66373"/>
            <a:ext cx="1055965" cy="1055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33243" y="3366373"/>
            <a:ext cx="17085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Early Identification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33243" y="4211122"/>
            <a:ext cx="17085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Proactively identify high-risk users before problems escalate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366373"/>
            <a:ext cx="1055965" cy="10559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64731" y="3366373"/>
            <a:ext cx="17086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Responsible Engagement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464731" y="4211122"/>
            <a:ext cx="170866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Supports strategies that prioritize user wellbeing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366373"/>
            <a:ext cx="1055965" cy="10559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96338" y="3366373"/>
            <a:ext cx="17086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Risk Mitigation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796338" y="4211122"/>
            <a:ext cx="170866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Reduces regulatory and reputational risks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366373"/>
            <a:ext cx="1055965" cy="105596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127944" y="3366373"/>
            <a:ext cx="17086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Targeted Campaigns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2127944" y="4211122"/>
            <a:ext cx="17086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Enables awareness &amp; intervention campaigns for at-risk groups</a:t>
            </a:r>
            <a:endParaRPr lang="en-US" sz="17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B65EC5D-ADFA-8CDA-541B-E636EF176ADA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45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933456"/>
            <a:ext cx="3664744" cy="2592348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28224" y="216789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2B9F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235493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Business-Aligned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3565565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ML project aligned with real business use-cases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348" y="1933456"/>
            <a:ext cx="3664863" cy="2592348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919782" y="216789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2B9F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06948" y="2354937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9782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Decision Bridge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4919782" y="356556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Bridges AI predictions with decision-making dashboards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4752618"/>
            <a:ext cx="3664744" cy="2592348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1028224" y="49870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2B9F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5390" y="5174099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8224" y="5894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Responsible AI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028224" y="6384727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Demonstrates responsible use of machine learning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4685348" y="4752618"/>
            <a:ext cx="3664863" cy="2592348"/>
          </a:xfrm>
          <a:prstGeom prst="roundRect">
            <a:avLst>
              <a:gd name="adj" fmla="val 7875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919782" y="49870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2B9F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06948" y="5174099"/>
            <a:ext cx="306110" cy="3061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19782" y="5894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Production-Ready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4919782" y="6384727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Scalable architecture ready for production use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617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Future Enhancements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61603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1882259"/>
            <a:ext cx="4295180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012990"/>
            <a:ext cx="237886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Multi-Level Classification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3790" y="2406253"/>
            <a:ext cx="42951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Expand from binary to multi-level addiction risk classification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3790" y="313753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3790" y="3403759"/>
            <a:ext cx="4295180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9" name="Text 7"/>
          <p:cNvSpPr/>
          <p:nvPr/>
        </p:nvSpPr>
        <p:spPr>
          <a:xfrm>
            <a:off x="793790" y="353448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Time-Series Analysis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93790" y="3927753"/>
            <a:ext cx="42951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 behavioral patterns over time for deeper insights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3790" y="465903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3790" y="4925258"/>
            <a:ext cx="4295180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05598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Real-Time Scoring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93790" y="5449252"/>
            <a:ext cx="429518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 real-time risk scoring using Databricks Jobs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3790" y="5942409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3790" y="6208633"/>
            <a:ext cx="4295180" cy="22860"/>
          </a:xfrm>
          <a:prstGeom prst="rect">
            <a:avLst/>
          </a:prstGeom>
          <a:solidFill>
            <a:srgbClr val="A2B9F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6339364"/>
            <a:ext cx="248614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Personalized Interventions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93790" y="6732627"/>
            <a:ext cx="42951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 tailored intervention recommendations for each user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601397"/>
            <a:ext cx="6249353" cy="3749516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9A82992-C214-54E3-6AC7-9AB60156519F}"/>
              </a:ext>
            </a:extLst>
          </p:cNvPr>
          <p:cNvSpPr/>
          <p:nvPr/>
        </p:nvSpPr>
        <p:spPr>
          <a:xfrm>
            <a:off x="12235022" y="7684318"/>
            <a:ext cx="2282256" cy="461913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 by Harishankar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703</Words>
  <Application>Microsoft Office PowerPoint</Application>
  <PresentationFormat>Custom</PresentationFormat>
  <Paragraphs>189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IBM Plex Sans</vt:lpstr>
      <vt:lpstr>Outfit Light</vt:lpstr>
      <vt:lpstr>Outfit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Hari Shankar</cp:lastModifiedBy>
  <cp:revision>10</cp:revision>
  <dcterms:created xsi:type="dcterms:W3CDTF">2026-02-01T11:25:45Z</dcterms:created>
  <dcterms:modified xsi:type="dcterms:W3CDTF">2026-02-01T14:55:29Z</dcterms:modified>
</cp:coreProperties>
</file>